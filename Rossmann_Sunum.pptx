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Giriş (30 sn)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Proje: **Rossmann** (Almanya merkezli eczane/zincir mağaza) günlük satışlarının tahmini.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Amaç: Mağaza yöneticilerine **6 haftalık** ileriye dönük güvenilir bir satış tahmini sunarak stok, personel ve promosyon planlamasına destek olmak.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Çerçeve: **Denetimli makine öğrenmesi / zaman serisi regresyonu**.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Problem ve Hedef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**Soru:** Proje hangi soruyu cevaplıyor? Bu sınıflandırma mı, regresyon mu, kümeleme mi? Hedef değişkeni neydi?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**Cevaplanan soru:** *"Her mağazanın gelecek 6 hafta için günlük cirosu ne olacak?"*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**Problem tipi:** **Regresyon** (sınıflandırma değil, kümeleme değil).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Gerekçe: Hedef sürekli, sayısal bir değerdir — bu yüzden regresyon.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**Hedef değişkeni:** `Sales` → **Günlük cirosu (€)**.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**Operasyonel hedef:** Sızıntısız (leakage-free), kronolojik olarak kilitli bir hat ile kabul edilebilir hata payıyla (~%12 RMSPE) tahmin.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Veri ve Hazırlık (1/2): Veri kaynağı ve boyut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**Soru:** Veriyi nereden aldınız, kaç gözlem ve kaç değişken vardı?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**Kaynak:** Kaggle — *Rossmann Store Sales* yarışma veri seti.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0242B"/>
                </a:solidFill>
              </a:rPr>
              <a:t>**Gözlem sayıları:**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Eğitim (`train`): **~1.017.209** gün–mağaza satırı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Test (`test`): **~41.088** satır (2015-08-01 → 2015-09-17)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**Birleştirilmiş tablo:** mağaza, promosyon, tatil, rakip, hava durumu ve **Google Trends** sinyalleri tek modelleme tablosunda → **~50 değişken**.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**Kullanılan dosyalar:** `train, test, store, store_states, state_names, weather, googletrend`.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Veri ve Hazırlık (2/2): Ön işleme adımları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**Soru:** Eksik veri, aykırı değer, kategorik dönüşüm, ölçekleme?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0242B"/>
                </a:solidFill>
              </a:rPr>
              <a:t>**Eksik veri (kural bazlı):**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`CompetitionDistance` → bilinmiyorsa 99999 (rakip yok varsayımı)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`PromoInterval / Promo2*` → 0 / `'0'`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Hava durumu: `Events` → `'None'`, sayısal sütunlar (gust, görünürlük, bulut…) → **medyan** ile dolduruldu.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**Kapalı mağaza günleri:** Eğitim ve doğrulamadan **izole edildi**; tahmin anında bu günlere doğrudan **0** atandı (tanım gereği satış 0, modele gürültü olmasın diye).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**Google Trends:** Haftalık trend, günlük veriye hafta-başı (Pazar) anahtarıyla birleştirildi → `Trend_DE`, `Trend_State`.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**Kategorik dönüşüm:** Label Encoding (ağaç modelleri sıralamadan etkilenmez).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**Ölçekleme:** **Yapılmadı** — gerekçe: XGBoost/LightGBM gibi ağaç tabanlı modeller ölçekten bağımsızdır.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**Hedef dönüşümü:** `log1p(Sales)` — sağa çarpık dağılımı düzeltir ve RMSPE ile öğrenme hedefini hizalar.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**Yeni özellik:** `IsPromo2Month` (bu ay Promo2 promosyonu aktif mi?).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EDA — Veri Keşfi (1): Satış Dağılımı ve Korelasyon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cell06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84024"/>
            <a:ext cx="5547207" cy="3095790"/>
          </a:xfrm>
          <a:prstGeom prst="rect">
            <a:avLst/>
          </a:prstGeom>
        </p:spPr>
      </p:pic>
      <p:pic>
        <p:nvPicPr>
          <p:cNvPr id="5" name="Picture 4" descr="eda_cell18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750544"/>
            <a:ext cx="5547207" cy="4362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EDA — Veri Keşfi (2): Haftanın Günleri ve Promosyon Etkisi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cell10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83894"/>
            <a:ext cx="5547207" cy="1696050"/>
          </a:xfrm>
          <a:prstGeom prst="rect">
            <a:avLst/>
          </a:prstGeom>
        </p:spPr>
      </p:pic>
      <p:pic>
        <p:nvPicPr>
          <p:cNvPr id="5" name="Picture 4" descr="eda_cell12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219380"/>
            <a:ext cx="5547207" cy="14250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EDA — Veri Keşfi (3): Zaman Serisi Trendleri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cell20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38785"/>
            <a:ext cx="5547207" cy="2786268"/>
          </a:xfrm>
          <a:prstGeom prst="rect">
            <a:avLst/>
          </a:prstGeom>
        </p:spPr>
      </p:pic>
      <p:pic>
        <p:nvPicPr>
          <p:cNvPr id="5" name="Picture 4" descr="eda_cell21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867348"/>
            <a:ext cx="5547207" cy="21291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EDA — Veri Keşfi (4): Tatil ve Rakip Mağaza Etkisi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cell14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84429"/>
            <a:ext cx="5547207" cy="1694980"/>
          </a:xfrm>
          <a:prstGeom prst="rect">
            <a:avLst/>
          </a:prstGeom>
        </p:spPr>
      </p:pic>
      <p:pic>
        <p:nvPicPr>
          <p:cNvPr id="5" name="Picture 4" descr="eda_cell16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084429"/>
            <a:ext cx="5547207" cy="16949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Model ve Gerekçe (1/2): Algoritma seçimi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**Soru:** Hangi algoritma(lar)ı denediniz ve neden?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0242B"/>
                </a:solidFill>
              </a:rPr>
              <a:t>**Denenen modeller:**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1. **XGBoost** (baseline + log hedef)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2. **LightGBM** (log hedef)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3. **Optuna ile ayarlanmış XGBoost** (TPE araması)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4. **Ağırlıklı Ensemble** (yukarıdakilerin birleşimi)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0242B"/>
                </a:solidFill>
              </a:rPr>
              <a:t>**Neden bu modeller?**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Doğrusal olmayan, karmaşık ilişkileri (mevsimsellik, promosyon etkileri, tatil) yakalarlar.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Eksik/az veriye ve aykırı değerlere karşı **dayanıklıdır**.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Hızlı eğitim ve iyi genelleme sağlarlar.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**Ensemble gerekçesi:** Farklı hata profillerine sahip modellerin ağırlıklı ortalaması, tekil modelden daha düşük ve daha kararlı hata verir.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Model ve Gerekçe (2/2): Eğitim/Test ayrımı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**Soru:** Veriyi eğitim/test olarak nasıl ayırdınız?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**Rastgele ayırma (train_test_split) KULLANMADIK** — gerekçe: bu bir **zaman serisidir**; rastgele bölmek gelecekten geçmişe bilgi sızıntısı (leakage) yaratır.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0242B"/>
                </a:solidFill>
              </a:rPr>
              <a:t>**Kronolojik (takvim bazlı) bölme:**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Eğitim: geçmiş tüm dönem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Doğrulama: **son 6 hafta** (test ufkuyla aynı uzunlukta)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**3 katlı walk-forward (kayan pencere) çapraz doğrulama:** model, gerçek görev gibi "geçmişten geleceği" öğrenerek değerlendirildi.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**Sızıntı önlemleri:** `many_to_one` merge doğrulaması, kapalı gün izolasyonu, gecikme (lag) özellikleri yalnızca kesin geçmişten üretildi (test için rekursif simülasyon).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Sonuç ve Değerlendirme (1/2): Metrik ve sonuç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**Soru:** Hangi metrikle ölçtünüz, neden? Sonuç nedir?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**Metrik: RMSPE** (Root Mean Squared Percentage Error).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**Neden RMSPE?** Yüzdesel/oransal bir metriktir; büyük cirolu ve küçük cirolu mağazalar arasındaki hatayı **dengeli** şekilde ölçer (mutlak hata olan RMSE bunu yapamazdı).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0242B"/>
                </a:solidFill>
              </a:rPr>
              <a:t>**Sonuç:**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Ensemble (topluluk) modeli: **%12,14 RMSPE** (doğrulama)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CV ortalaması: %12,60 (std 0,40 → dönemler arası tutarlı)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Bu skor, Kaggle Rossmann yarışmasında **ilk ~%10'luk dilime** ve perakende standardında "iyi" aralığa denk düşer.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Sonuç ve Değerlendirme (2/2): Zorluk ve gelecek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**Soru:** En büyük zorluk neydi? Bir daha yapsanız neyi farklı yapardınız?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0242B"/>
                </a:solidFill>
              </a:rPr>
              <a:t>**En büyük zorluk: VERİ SIZINTISI (leakage).**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Başlangıçta yapılan rastgele bölme **yanıltıcı düşük skorlar** verdi (gerçek performansı yansıtmıyordu).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Çözüm: kilitli takvim doğrulaması + walk-forward CV ile sızıntı kapatıldı.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0242B"/>
                </a:solidFill>
              </a:rPr>
              <a:t>**Bir daha yapsam:**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1. Hiperparametre optimizasyonunu **tek pencere** yerine **CV ortalamasına** dayandırırdım (daha sağlam seçim).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2. **CatBoost** algoritmasını denerdim.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3. **Stacking** (katmanlı istifleme) ile ensemble'ı geliştirirdim.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4. Resmi Alman tatil takvimi ve mağaza bazlı hedef kodlaması eklerdim.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Kapanış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Proje; sızıntı kontrollü, çapraz doğrulama ile seçilmiş, uçtan uca bir **satış tahmin hattı** sunar.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Vurgu: Başarı sadece skorda değil, **her veri kararının (ayırmadan dönüşüme, metrik seçimine) açık gerekçesindedir.**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062"/>
                </a:solidFill>
              </a:rPr>
              <a:t>EK — Sıkça gelebilecek takip soruları (hazırlıklı 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463040" cy="63500"/>
          </a:xfrm>
          <a:prstGeom prst="rect">
            <a:avLst/>
          </a:prstGeom>
          <a:solidFill>
            <a:srgbClr val="2E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**"Neden ölçekleme yapmadın?"** → Ağaç modelleri öznitelik ölçeğinden bağımsızdır; yapmak skoru değiştirmez, yalnızca gereksiz iş yükü olurdu.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**"Label encoding mi, one-hot mu?"** → Yüksek kardinaliteli `Store` gibi değişkenlerde boyut şişmesini önler; ağaç split'i sıralamadan etkilenmez.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**"Test skorun resmi mi?"** → Burada sunulan %12,14 bir **doğrulama** skorudur; gerçek Kaggle test skoru ayrıca koşturulmamıştır (dürüst sınır).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**"Lag modeli neden ensemble'a girmedi?"** → Rekursif hata birikimi yüzünden ağırlığı 0 çıktı; yine de sürece dahil edilmesi yöntemsel güvence sağladı.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42B"/>
                </a:solidFill>
              </a:rPr>
              <a:t>**"Trend verisini nasıl birleştirdin?"** → Haftalık Google Trends, günlük satırlarla hafta-başı (Pazar) anahtarıyla eşlendi; ulusal (`Trend_DE`) ve eyalet (`Trend_State`) olarak eklendi.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